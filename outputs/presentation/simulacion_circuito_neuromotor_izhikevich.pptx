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914400"/>
            <a:ext cx="1188720" cy="1188720"/>
          </a:xfrm>
          <a:prstGeom prst="ellipse">
            <a:avLst/>
          </a:prstGeom>
          <a:solidFill>
            <a:srgbClr val="20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0"/>
            <a:ext cx="731520" cy="731520"/>
          </a:xfrm>
          <a:prstGeom prst="ellipse">
            <a:avLst/>
          </a:prstGeom>
          <a:solidFill>
            <a:srgbClr val="E75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2743200"/>
            <a:ext cx="594360" cy="594360"/>
          </a:xfrm>
          <a:prstGeom prst="ellipse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931920"/>
            <a:ext cx="914400" cy="914400"/>
          </a:xfrm>
          <a:prstGeom prst="ellipse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875520" y="1463040"/>
            <a:ext cx="914400" cy="594360"/>
          </a:xfrm>
          <a:prstGeom prst="line">
            <a:avLst/>
          </a:prstGeom>
          <a:ln w="16510">
            <a:solidFill>
              <a:srgbClr val="E0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332720" y="2560320"/>
            <a:ext cx="365760" cy="1417319"/>
          </a:xfrm>
          <a:prstGeom prst="line">
            <a:avLst/>
          </a:prstGeom>
          <a:ln w="16510">
            <a:solidFill>
              <a:srgbClr val="E0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594360"/>
            <a:ext cx="2468880" cy="393192"/>
          </a:xfrm>
          <a:prstGeom prst="round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"/>
            <a:ext cx="24688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7FAFC"/>
                </a:solidFill>
                <a:latin typeface="Aptos"/>
              </a:defRPr>
            </a:pPr>
            <a:r>
              <a:t>SIMULACIÓN NEUROMOTORA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680960" cy="1371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400" b="1">
                <a:solidFill>
                  <a:srgbClr val="F7FAFC"/>
                </a:solidFill>
                <a:latin typeface="Aptos"/>
              </a:defRPr>
            </a:pPr>
            <a:r>
              <a:t>Simulación progresiva de un</a:t>
            </a:r>
            <a:br/>
            <a:r>
              <a:t>circuito neuromotor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34640"/>
            <a:ext cx="7040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20BECF"/>
                </a:solidFill>
                <a:latin typeface="Aptos"/>
              </a:defRPr>
            </a:pPr>
            <a:r>
              <a:t>mediante neuronas de Izhikevich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703320"/>
            <a:ext cx="68580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0">
                <a:solidFill>
                  <a:srgbClr val="E0EAF2"/>
                </a:solidFill>
                <a:latin typeface="Aptos"/>
              </a:defRPr>
            </a:pPr>
            <a:r>
              <a:t>De una neurona individual a una salida muscular simplificada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897880"/>
            <a:ext cx="54864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100" b="0">
                <a:solidFill>
                  <a:srgbClr val="97AABE"/>
                </a:solidFill>
                <a:latin typeface="Aptos"/>
              </a:defRPr>
            </a:pPr>
            <a:r>
              <a:t>Proyecto Python · Jupyter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Problema, objetivo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500" b="1">
                <a:solidFill>
                  <a:srgbClr val="F7FAFC"/>
                </a:solidFill>
                <a:latin typeface="Aptos"/>
              </a:defRPr>
            </a:pPr>
            <a:r>
              <a:t>¿Cómo modifica la inhibición recurrente la actividad de un pool motor y su salida muscular estimada?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246888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852928"/>
            <a:ext cx="224942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0BE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82696"/>
            <a:ext cx="2286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Actividad spiking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743200"/>
            <a:ext cx="246888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852928"/>
            <a:ext cx="224942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E75C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3282696"/>
            <a:ext cx="2286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Feedback Renshaw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246888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F2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852928"/>
            <a:ext cx="224942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F2A0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82696"/>
            <a:ext cx="2286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Fuerza simplificada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743200"/>
            <a:ext cx="201168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50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7" y="2852928"/>
            <a:ext cx="179222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50B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282696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Interpretación prudente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9768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Modelo conceptual y reproducible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Simulaciones pequeñas y rápidas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No es una reconstrucción biológica ni biomecánica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Marco teórico: modelo de Izhikevich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532120" cy="1828800"/>
          </a:xfrm>
          <a:prstGeom prst="roundRect">
            <a:avLst/>
          </a:prstGeom>
          <a:solidFill>
            <a:srgbClr val="1A2B42"/>
          </a:solidFill>
          <a:ln>
            <a:solidFill>
              <a:srgbClr val="1D6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9834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20BECF"/>
                </a:solidFill>
                <a:latin typeface="Cambria Math"/>
              </a:defRPr>
            </a:pPr>
            <a:r>
              <a:t>dv/dt = 0.04v² + 5v + 140 − u +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9834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300" b="1">
                <a:solidFill>
                  <a:srgbClr val="F7FAFC"/>
                </a:solidFill>
                <a:latin typeface="Cambria Math"/>
              </a:defRPr>
            </a:pPr>
            <a:r>
              <a:t>du/dt = a(bv − 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5532120" cy="1325880"/>
          </a:xfrm>
          <a:prstGeom prst="roundRect">
            <a:avLst/>
          </a:prstGeom>
          <a:solidFill>
            <a:srgbClr val="332230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13048"/>
            <a:ext cx="49834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900" b="1">
                <a:solidFill>
                  <a:srgbClr val="E75C53"/>
                </a:solidFill>
                <a:latin typeface="Cambria Math"/>
              </a:defRPr>
            </a:pPr>
            <a:r>
              <a:t>Si v ≥ 30 mV → v = c ; u = u +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2344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E0EAF2"/>
                </a:solidFill>
                <a:latin typeface="Aptos"/>
              </a:defRPr>
            </a:pPr>
            <a:r>
              <a:t>•  v: potencial de membrana</a:t>
            </a:r>
          </a:p>
          <a:p>
            <a:pPr>
              <a:spcAft>
                <a:spcPts val="900"/>
              </a:spcAft>
              <a:defRPr sz="1700">
                <a:solidFill>
                  <a:srgbClr val="E0EAF2"/>
                </a:solidFill>
                <a:latin typeface="Aptos"/>
              </a:defRPr>
            </a:pPr>
            <a:r>
              <a:t>•  u: recuperación</a:t>
            </a:r>
          </a:p>
          <a:p>
            <a:pPr>
              <a:spcAft>
                <a:spcPts val="900"/>
              </a:spcAft>
              <a:defRPr sz="1700">
                <a:solidFill>
                  <a:srgbClr val="E0EAF2"/>
                </a:solidFill>
                <a:latin typeface="Aptos"/>
              </a:defRPr>
            </a:pPr>
            <a:r>
              <a:t>•  I: corriente total</a:t>
            </a:r>
          </a:p>
          <a:p>
            <a:pPr>
              <a:spcAft>
                <a:spcPts val="900"/>
              </a:spcAft>
              <a:defRPr sz="1700">
                <a:solidFill>
                  <a:srgbClr val="E0EAF2"/>
                </a:solidFill>
                <a:latin typeface="Aptos"/>
              </a:defRPr>
            </a:pPr>
            <a:r>
              <a:t>•  a, b: dinámica de recuperación</a:t>
            </a:r>
          </a:p>
          <a:p>
            <a:pPr>
              <a:spcAft>
                <a:spcPts val="900"/>
              </a:spcAft>
              <a:defRPr sz="1700">
                <a:solidFill>
                  <a:srgbClr val="E0EAF2"/>
                </a:solidFill>
                <a:latin typeface="Aptos"/>
              </a:defRPr>
            </a:pPr>
            <a:r>
              <a:t>•  c, d: reset tras el spike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617720"/>
            <a:ext cx="1097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20BECF"/>
                </a:solidFill>
                <a:latin typeface="Aptos"/>
              </a:defRPr>
            </a:pPr>
            <a:r>
              <a:t>Ventaja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965192"/>
            <a:ext cx="43891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0">
                <a:solidFill>
                  <a:srgbClr val="F7FAFC"/>
                </a:solidFill>
                <a:latin typeface="Aptos"/>
              </a:defRPr>
            </a:pPr>
            <a:r>
              <a:t>Patrones de disparo ricos con pocas variables y bajo costo computacional.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Construcción progresiva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417320" cy="658368"/>
          </a:xfrm>
          <a:prstGeom prst="round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Neurona</a:t>
            </a:r>
            <a:br/>
            <a:r>
              <a:t>individual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9384" y="2478024"/>
            <a:ext cx="402336" cy="0"/>
          </a:xfrm>
          <a:prstGeom prst="line">
            <a:avLst/>
          </a:prstGeom>
          <a:ln w="22860">
            <a:solidFill>
              <a:srgbClr val="9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2148840"/>
            <a:ext cx="1417320" cy="658368"/>
          </a:xfrm>
          <a:prstGeom prst="round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Pool</a:t>
            </a:r>
            <a:br/>
            <a:r>
              <a:t>heterogéneo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03904" y="2478024"/>
            <a:ext cx="402336" cy="0"/>
          </a:xfrm>
          <a:prstGeom prst="line">
            <a:avLst/>
          </a:prstGeom>
          <a:ln w="22860">
            <a:solidFill>
              <a:srgbClr val="9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2148840"/>
            <a:ext cx="1417320" cy="658368"/>
          </a:xfrm>
          <a:prstGeom prst="roundRect">
            <a:avLst/>
          </a:prstGeom>
          <a:solidFill>
            <a:srgbClr val="20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Matriz 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78424" y="2478024"/>
            <a:ext cx="402336" cy="0"/>
          </a:xfrm>
          <a:prstGeom prst="line">
            <a:avLst/>
          </a:prstGeom>
          <a:ln w="22860">
            <a:solidFill>
              <a:srgbClr val="9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2148840"/>
            <a:ext cx="1417320" cy="658368"/>
          </a:xfrm>
          <a:prstGeom prst="round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MN +</a:t>
            </a:r>
            <a:br/>
            <a:r>
              <a:t>Renshaw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52944" y="2478024"/>
            <a:ext cx="402335" cy="0"/>
          </a:xfrm>
          <a:prstGeom prst="line">
            <a:avLst/>
          </a:prstGeom>
          <a:ln w="22860">
            <a:solidFill>
              <a:srgbClr val="9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01000" y="2148840"/>
            <a:ext cx="1417320" cy="658368"/>
          </a:xfrm>
          <a:prstGeom prst="roundRect">
            <a:avLst/>
          </a:prstGeom>
          <a:solidFill>
            <a:srgbClr val="E75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Inhibición</a:t>
            </a:r>
            <a:br/>
            <a:r>
              <a:t>recurrente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7464" y="2478024"/>
            <a:ext cx="402336" cy="0"/>
          </a:xfrm>
          <a:prstGeom prst="line">
            <a:avLst/>
          </a:prstGeom>
          <a:ln w="22860">
            <a:solidFill>
              <a:srgbClr val="9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0" y="2148840"/>
            <a:ext cx="1417320" cy="658368"/>
          </a:xfrm>
          <a:prstGeom prst="round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203704"/>
            <a:ext cx="141732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Fuerza</a:t>
            </a:r>
            <a:br/>
            <a:r>
              <a:t>muscular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1600200"/>
            <a:ext cx="548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200" b="1">
                <a:solidFill>
                  <a:srgbClr val="97AA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0EAF2"/>
                </a:solidFill>
                <a:latin typeface="Aptos"/>
              </a:defRPr>
            </a:pPr>
            <a:r>
              <a:t>•  Notebooks 01–06: recorrido explicativo e interactivo</a:t>
            </a:r>
          </a:p>
          <a:p>
            <a:pPr>
              <a:spcAft>
                <a:spcPts val="900"/>
              </a:spcAft>
              <a:defRPr sz="1600">
                <a:solidFill>
                  <a:srgbClr val="E0EAF2"/>
                </a:solidFill>
                <a:latin typeface="Aptos"/>
              </a:defRPr>
            </a:pPr>
            <a:r>
              <a:t>•  src/: dinámica, inputs, conectividad, circuito, métricas, músculo y visualización</a:t>
            </a:r>
          </a:p>
          <a:p>
            <a:pPr>
              <a:spcAft>
                <a:spcPts val="900"/>
              </a:spcAft>
              <a:defRPr sz="1600">
                <a:solidFill>
                  <a:srgbClr val="E0EAF2"/>
                </a:solidFill>
                <a:latin typeface="Aptos"/>
              </a:defRPr>
            </a:pPr>
            <a:r>
              <a:t>•  Semillas fijas para comparar escenarios con la misma realización aleatoria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Red conectada y dinámica sináptica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ight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675120" cy="26422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325880"/>
            <a:ext cx="1920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400" b="1">
                <a:solidFill>
                  <a:srgbClr val="20BECF"/>
                </a:solidFill>
                <a:latin typeface="Aptos"/>
              </a:defRPr>
            </a:pPr>
            <a:r>
              <a:t>W[i, j]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28800"/>
            <a:ext cx="4023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0">
                <a:solidFill>
                  <a:srgbClr val="E0EAF2"/>
                </a:solidFill>
                <a:latin typeface="Aptos"/>
              </a:defRPr>
            </a:pPr>
            <a:r>
              <a:t>efecto de la neurona i sobre la neurona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65176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Conectividad Bernoulli aleatoria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Variable sináptica por neurona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Decaimiento: exp(−dt/τ)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Ruido individual de input</a:t>
            </a:r>
          </a:p>
          <a:p>
            <a:pPr>
              <a:spcAft>
                <a:spcPts val="900"/>
              </a:spcAft>
              <a:defRPr sz="1500">
                <a:solidFill>
                  <a:srgbClr val="E0EAF2"/>
                </a:solidFill>
                <a:latin typeface="Aptos"/>
              </a:defRPr>
            </a:pPr>
            <a:r>
              <a:t>•  Heterogeneidad en a, b, c y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5349240"/>
            <a:ext cx="3657600" cy="393192"/>
          </a:xfrm>
          <a:prstGeom prst="round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5358383"/>
            <a:ext cx="365760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000" b="1">
                <a:solidFill>
                  <a:srgbClr val="F7FAFC"/>
                </a:solidFill>
                <a:latin typeface="Aptos"/>
              </a:defRPr>
            </a:pPr>
            <a:r>
              <a:t>Filas = origen · Columnas = destino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Circuito de inhibición recurrente MN–Renshaw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057400"/>
            <a:ext cx="2743200" cy="658368"/>
          </a:xfrm>
          <a:prstGeom prst="round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12264"/>
            <a:ext cx="27432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Pool de motoneuronas</a:t>
            </a:r>
            <a:br/>
            <a:r>
              <a:t>Regular Spiking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057400"/>
            <a:ext cx="2743200" cy="658368"/>
          </a:xfrm>
          <a:prstGeom prst="roundRect">
            <a:avLst/>
          </a:prstGeom>
          <a:solidFill>
            <a:srgbClr val="F2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12264"/>
            <a:ext cx="27432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Células de Renshaw</a:t>
            </a:r>
            <a:br/>
            <a:r>
              <a:t>Fast Spiking*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931920"/>
            <a:ext cx="1828800" cy="658368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986783"/>
            <a:ext cx="182880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300" b="1">
                <a:solidFill>
                  <a:srgbClr val="F7FAFC"/>
                </a:solidFill>
                <a:latin typeface="Aptos"/>
              </a:defRPr>
            </a:pPr>
            <a:r>
              <a:t>Comando motor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331720" y="2743200"/>
            <a:ext cx="0" cy="1188720"/>
          </a:xfrm>
          <a:prstGeom prst="line">
            <a:avLst/>
          </a:prstGeom>
          <a:ln w="38100">
            <a:solidFill>
              <a:srgbClr val="2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03320" y="2267712"/>
            <a:ext cx="4480559" cy="0"/>
          </a:xfrm>
          <a:prstGeom prst="line">
            <a:avLst/>
          </a:prstGeom>
          <a:ln w="38100">
            <a:solidFill>
              <a:srgbClr val="20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03320" y="2615184"/>
            <a:ext cx="4480559" cy="0"/>
          </a:xfrm>
          <a:prstGeom prst="line">
            <a:avLst/>
          </a:prstGeom>
          <a:ln w="38100">
            <a:solidFill>
              <a:srgbClr val="E75C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09160" y="1627632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20BECF"/>
                </a:solidFill>
                <a:latin typeface="Aptos"/>
              </a:defRPr>
            </a:pPr>
            <a:r>
              <a:t>Excitación MN →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1">
                <a:solidFill>
                  <a:srgbClr val="E75C53"/>
                </a:solidFill>
                <a:latin typeface="Aptos"/>
              </a:defRPr>
            </a:pPr>
            <a:r>
              <a:t>Inhibición R → 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53949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700" b="1">
                <a:solidFill>
                  <a:srgbClr val="F7FAFC"/>
                </a:solidFill>
                <a:latin typeface="Cambria Math"/>
              </a:defRPr>
            </a:pPr>
            <a:r>
              <a:t>I_MN = I_motor + I_ruido − I_Renshaw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83480"/>
            <a:ext cx="49377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700" b="1">
                <a:solidFill>
                  <a:srgbClr val="F7FAFC"/>
                </a:solidFill>
                <a:latin typeface="Cambria Math"/>
              </a:defRPr>
            </a:pPr>
            <a:r>
              <a:t>I_R = I_MN→R + I_ruido,R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5897880"/>
            <a:ext cx="4206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97AABE"/>
                </a:solidFill>
                <a:latin typeface="Aptos"/>
              </a:defRPr>
            </a:pPr>
            <a:r>
              <a:t>* Aproximación funcional; no calibración biológica específica.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Diseño experimental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377440" cy="1417320"/>
          </a:xfrm>
          <a:prstGeom prst="roundRect">
            <a:avLst/>
          </a:prstGeom>
          <a:solidFill>
            <a:srgbClr val="1A2B42"/>
          </a:solidFill>
          <a:ln>
            <a:solidFill>
              <a:srgbClr val="9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645920"/>
            <a:ext cx="2194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Sin inhibición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4884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1">
                <a:solidFill>
                  <a:srgbClr val="97AABE"/>
                </a:solidFill>
                <a:latin typeface="Aptos"/>
              </a:defRPr>
            </a:pPr>
            <a:r>
              <a:t>peso R→MN = 0,0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417320"/>
            <a:ext cx="2377440" cy="141732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45920"/>
            <a:ext cx="2194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Débil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4884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1">
                <a:solidFill>
                  <a:srgbClr val="20BECF"/>
                </a:solidFill>
                <a:latin typeface="Aptos"/>
              </a:defRPr>
            </a:pPr>
            <a:r>
              <a:t>peso R→MN = 0,5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417320"/>
            <a:ext cx="2377440" cy="1417320"/>
          </a:xfrm>
          <a:prstGeom prst="roundRect">
            <a:avLst/>
          </a:prstGeom>
          <a:solidFill>
            <a:srgbClr val="1A2B42"/>
          </a:solidFill>
          <a:ln>
            <a:solidFill>
              <a:srgbClr val="F2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45920"/>
            <a:ext cx="2194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Moderada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14884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1">
                <a:solidFill>
                  <a:srgbClr val="F2A046"/>
                </a:solidFill>
                <a:latin typeface="Aptos"/>
              </a:defRPr>
            </a:pPr>
            <a:r>
              <a:t>peso R→MN = 1,5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417320"/>
            <a:ext cx="2377440" cy="141732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1645920"/>
            <a:ext cx="21945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500" b="1">
                <a:solidFill>
                  <a:srgbClr val="F7FAFC"/>
                </a:solidFill>
                <a:latin typeface="Aptos"/>
              </a:defRPr>
            </a:pPr>
            <a:r>
              <a:t>Fuerte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14884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1">
                <a:solidFill>
                  <a:srgbClr val="E75C53"/>
                </a:solidFill>
                <a:latin typeface="Aptos"/>
              </a:defRPr>
            </a:pPr>
            <a:r>
              <a:t>peso R→MN = 4,0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100" b="1">
                <a:solidFill>
                  <a:srgbClr val="20BECF"/>
                </a:solidFill>
                <a:latin typeface="Aptos"/>
              </a:defRPr>
            </a:pPr>
            <a:r>
              <a:t>Todo lo demás permanece constante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343400"/>
            <a:ext cx="18288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1D6F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453128"/>
            <a:ext cx="16093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1D6FA4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82896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motoneuronas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27248" y="4343400"/>
            <a:ext cx="18288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F2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4453128"/>
            <a:ext cx="16093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F2A0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4882896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Renshaw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94376" y="4343400"/>
            <a:ext cx="18288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50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4104" y="4453128"/>
            <a:ext cx="16093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50BE91"/>
                </a:solidFill>
                <a:latin typeface="Aptos"/>
              </a:defRPr>
            </a:pPr>
            <a:r>
              <a:t>1000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4882896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duración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61504" y="4343400"/>
            <a:ext cx="18288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4453128"/>
            <a:ext cx="16093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0BECF"/>
                </a:solidFill>
                <a:latin typeface="Aptos"/>
              </a:defRPr>
            </a:pPr>
            <a:r>
              <a:t>0,5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4882896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dt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4343400"/>
            <a:ext cx="18288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4453128"/>
            <a:ext cx="16093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E75C53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882896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semilla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15000"/>
            <a:ext cx="81381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300" b="0">
                <a:solidFill>
                  <a:srgbClr val="E0EAF2"/>
                </a:solidFill>
                <a:latin typeface="Aptos"/>
              </a:defRPr>
            </a:pPr>
            <a:r>
              <a:t>Mismo input · mismo ruido · misma conectividad aleatoria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Resultados: regulación de la actividad motoneuronal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ur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863840" cy="22647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256032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7" y="1527048"/>
            <a:ext cx="234086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0BECF"/>
                </a:solidFill>
                <a:latin typeface="Aptos"/>
              </a:defRPr>
            </a:pPr>
            <a:r>
              <a:t>−7,1%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56816"/>
            <a:ext cx="237743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spikes: 311 → 289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697480"/>
            <a:ext cx="256032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7" y="2807208"/>
            <a:ext cx="234086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E75C53"/>
                </a:solidFill>
                <a:latin typeface="Aptos"/>
              </a:defRPr>
            </a:pPr>
            <a:r>
              <a:t>−7,1%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236976"/>
            <a:ext cx="237743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firing: 15,55 → 14,45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977639"/>
            <a:ext cx="256032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50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9367" y="4087368"/>
            <a:ext cx="2340863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50BE91"/>
                </a:solidFill>
                <a:latin typeface="Aptos"/>
              </a:defRPr>
            </a:pPr>
            <a:r>
              <a:t>20/20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517136"/>
            <a:ext cx="237743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MN activas en todos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42416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0">
                <a:solidFill>
                  <a:srgbClr val="E0EAF2"/>
                </a:solidFill>
                <a:latin typeface="Aptos"/>
              </a:defRPr>
            </a:pPr>
            <a:r>
              <a:t>La inhibición aumentó y la actividad total bajó modestamente. El pico poblacional no fue monotónico: no se fuerza una conclusión de “mayor estabilidad”.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De spikes a fuerza muscular simplificada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315200" cy="3065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1417320"/>
            <a:ext cx="3749039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900" b="1">
                <a:solidFill>
                  <a:srgbClr val="20BECF"/>
                </a:solidFill>
                <a:latin typeface="Cambria Math"/>
              </a:defRPr>
            </a:pPr>
            <a:r>
              <a:t>h(t) = A(e⁻ᵗ/τᵈᵉᶜᵃʸ − e⁻ᵗ/τʳⁱˢᵉ)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24028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Cada spike genera un twitch</a:t>
            </a:r>
          </a:p>
          <a:p>
            <a:pPr>
              <a:spcAft>
                <a:spcPts val="9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La fuerza suma todos los twitches</a:t>
            </a:r>
          </a:p>
          <a:p>
            <a:pPr>
              <a:spcAft>
                <a:spcPts val="9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Convolución causal del pool completo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069080"/>
            <a:ext cx="16002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7" y="4178808"/>
            <a:ext cx="13807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20BECF"/>
                </a:solidFill>
                <a:latin typeface="Aptos"/>
              </a:defRPr>
            </a:pPr>
            <a:r>
              <a:t>23,22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4608576"/>
            <a:ext cx="1417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media sin inhibición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4069080"/>
            <a:ext cx="1600200" cy="96012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48088" y="4178808"/>
            <a:ext cx="1380744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200" b="1">
                <a:solidFill>
                  <a:srgbClr val="E75C53"/>
                </a:solidFill>
                <a:latin typeface="Aptos"/>
              </a:defRPr>
            </a:pPr>
            <a:r>
              <a:t>21,58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4608576"/>
            <a:ext cx="1417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900" b="0">
                <a:solidFill>
                  <a:srgbClr val="E0EAF2"/>
                </a:solidFill>
                <a:latin typeface="Aptos"/>
              </a:defRPr>
            </a:pPr>
            <a:r>
              <a:t>media inhibición fuerte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394960"/>
            <a:ext cx="33832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0">
                <a:solidFill>
                  <a:srgbClr val="97AABE"/>
                </a:solidFill>
                <a:latin typeface="Aptos"/>
              </a:defRPr>
            </a:pPr>
            <a:r>
              <a:t>Proxy visual de activación: no incluye biomecánica, fatiga ni relación longitud–tensión.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Python/Jupyter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640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20BE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561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500" b="1">
                <a:solidFill>
                  <a:srgbClr val="F7FAFC"/>
                </a:solidFill>
                <a:latin typeface="Aptos"/>
              </a:defRPr>
            </a:pPr>
            <a:r>
              <a:t>Conclusiones, limitaciones y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32104"/>
            <a:ext cx="11247120" cy="22860"/>
          </a:xfrm>
          <a:prstGeom prst="rect">
            <a:avLst/>
          </a:prstGeom>
          <a:solidFill>
            <a:srgbClr val="2D4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20440" cy="4480560"/>
          </a:xfrm>
          <a:prstGeom prst="roundRect">
            <a:avLst/>
          </a:prstGeom>
          <a:solidFill>
            <a:srgbClr val="1A2B42"/>
          </a:solidFill>
          <a:ln>
            <a:solidFill>
              <a:srgbClr val="20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461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20BECF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Izhikevich ofrece dinámica rica con bajo costo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W explicita dirección y magnitud sináptica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La inhibición redujo actividad y fuerza media en esta ejecución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520440" cy="4480560"/>
          </a:xfrm>
          <a:prstGeom prst="roundRect">
            <a:avLst/>
          </a:prstGeom>
          <a:solidFill>
            <a:srgbClr val="1A2B42"/>
          </a:solidFill>
          <a:ln>
            <a:solidFill>
              <a:srgbClr val="E7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461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E75C53"/>
                </a:solidFill>
                <a:latin typeface="Aptos"/>
              </a:defRPr>
            </a:pPr>
            <a:r>
              <a:t>LIMITACIONES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488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Parámetros no calibrados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Conexiones e input artificiales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Sin feedback sensorial ni antagonista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Músculo no biomecánico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520440" cy="4480560"/>
          </a:xfrm>
          <a:prstGeom prst="roundRect">
            <a:avLst/>
          </a:prstGeom>
          <a:solidFill>
            <a:srgbClr val="1A2B42"/>
          </a:solidFill>
          <a:ln>
            <a:solidFill>
              <a:srgbClr val="50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2461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50BE91"/>
                </a:solidFill>
                <a:latin typeface="Aptos"/>
              </a:defRPr>
            </a:pPr>
            <a:r>
              <a:t>TRABAJO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14884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Calibrar con bibliografía y datos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Agonista–antagonista e inhibición recíproca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Huso y órgano tendinoso de Golgi</a:t>
            </a:r>
          </a:p>
          <a:p>
            <a:pPr>
              <a:spcAft>
                <a:spcPts val="1400"/>
              </a:spcAft>
              <a:defRPr sz="1400">
                <a:solidFill>
                  <a:srgbClr val="E0EAF2"/>
                </a:solidFill>
                <a:latin typeface="Aptos"/>
              </a:defRPr>
            </a:pPr>
            <a:r>
              <a:t>•  Feedback y biomecánica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989320"/>
            <a:ext cx="100584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400" b="1">
                <a:solidFill>
                  <a:srgbClr val="F7FAFC"/>
                </a:solidFill>
                <a:latin typeface="Aptos"/>
              </a:defRPr>
            </a:pPr>
            <a:r>
              <a:t>La simulación es una plataforma exploratoria: sus resultados describen este modelo y esta parametrización.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800" b="0">
                <a:solidFill>
                  <a:srgbClr val="97AABE"/>
                </a:solidFill>
                <a:latin typeface="Aptos"/>
              </a:defRPr>
            </a:pPr>
            <a:r>
              <a:t>Neural Network Exploration · Fin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progresiva de un circuito neuromotor mediante neuronas de Izhikevich</dc:title>
  <dc:subject>Modelo neuronal, circuito Renshaw y fuerza muscular simplificada</dc:subject>
  <dc:creator>Neural Network Exploration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